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6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7A92B4"/>
                </a:solidFill>
                <a:latin typeface="Arial"/>
              </a:defRPr>
            </a:pPr>
            <a:r>
              <a:rPr sz="1000" b="0" i="0" u="none" strike="noStrike">
                <a:solidFill>
                  <a:srgbClr val="7A92B4"/>
                </a:solidFill>
                <a:latin typeface="Arial"/>
              </a:rPr>
              <a:t>Variance expliquée par composante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Variance expliquée (%)</c:v>
                </c:pt>
              </c:strCache>
            </c:strRef>
          </c:tx>
          <c:spPr>
            <a:solidFill>
              <a:srgbClr val="4F8EF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35F-4301-B632-3C1C871D26B8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635F-4301-B632-3C1C871D26B8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635F-4301-B632-3C1C871D26B8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635F-4301-B632-3C1C871D26B8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635F-4301-B632-3C1C871D26B8}"/>
              </c:ext>
            </c:extLst>
          </c:dPt>
          <c:dPt>
            <c:idx val="5"/>
            <c:invertIfNegative val="0"/>
            <c:bubble3D val="0"/>
            <c:spPr>
              <a:solidFill>
                <a:srgbClr val="22D3C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635F-4301-B632-3C1C871D26B8}"/>
              </c:ext>
            </c:extLst>
          </c:dPt>
          <c:dPt>
            <c:idx val="6"/>
            <c:invertIfNegative val="0"/>
            <c:bubble3D val="0"/>
            <c:spPr>
              <a:solidFill>
                <a:srgbClr val="22D3C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635F-4301-B632-3C1C871D26B8}"/>
              </c:ext>
            </c:extLst>
          </c:dPt>
          <c:dPt>
            <c:idx val="7"/>
            <c:invertIfNegative val="0"/>
            <c:bubble3D val="0"/>
            <c:spPr>
              <a:solidFill>
                <a:srgbClr val="22D3C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635F-4301-B632-3C1C871D26B8}"/>
              </c:ext>
            </c:extLst>
          </c:dPt>
          <c:dPt>
            <c:idx val="8"/>
            <c:invertIfNegative val="0"/>
            <c:bubble3D val="0"/>
            <c:spPr>
              <a:solidFill>
                <a:srgbClr val="22D3C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635F-4301-B632-3C1C871D26B8}"/>
              </c:ext>
            </c:extLst>
          </c:dPt>
          <c:dPt>
            <c:idx val="9"/>
            <c:invertIfNegative val="0"/>
            <c:bubble3D val="0"/>
            <c:spPr>
              <a:solidFill>
                <a:srgbClr val="22D3C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635F-4301-B632-3C1C871D26B8}"/>
              </c:ext>
            </c:extLst>
          </c:dPt>
          <c:dPt>
            <c:idx val="10"/>
            <c:invertIfNegative val="0"/>
            <c:bubble3D val="0"/>
            <c:spPr>
              <a:solidFill>
                <a:srgbClr val="22D3C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635F-4301-B632-3C1C871D26B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C8D6E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PC1</c:v>
                </c:pt>
                <c:pt idx="1">
                  <c:v>PC2</c:v>
                </c:pt>
                <c:pt idx="2">
                  <c:v>PC3</c:v>
                </c:pt>
                <c:pt idx="3">
                  <c:v>PC4</c:v>
                </c:pt>
                <c:pt idx="4">
                  <c:v>PC5</c:v>
                </c:pt>
                <c:pt idx="5">
                  <c:v>PC6</c:v>
                </c:pt>
                <c:pt idx="6">
                  <c:v>PC7</c:v>
                </c:pt>
                <c:pt idx="7">
                  <c:v>PC8</c:v>
                </c:pt>
                <c:pt idx="8">
                  <c:v>PC9</c:v>
                </c:pt>
                <c:pt idx="9">
                  <c:v>PC10</c:v>
                </c:pt>
                <c:pt idx="10">
                  <c:v>PC11-19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18.2</c:v>
                </c:pt>
                <c:pt idx="1">
                  <c:v>12.4</c:v>
                </c:pt>
                <c:pt idx="2">
                  <c:v>9.1</c:v>
                </c:pt>
                <c:pt idx="3">
                  <c:v>7.3</c:v>
                </c:pt>
                <c:pt idx="4">
                  <c:v>6</c:v>
                </c:pt>
                <c:pt idx="5">
                  <c:v>5.2</c:v>
                </c:pt>
                <c:pt idx="6">
                  <c:v>4.4000000000000004</c:v>
                </c:pt>
                <c:pt idx="7">
                  <c:v>3.8</c:v>
                </c:pt>
                <c:pt idx="8">
                  <c:v>3.2</c:v>
                </c:pt>
                <c:pt idx="9">
                  <c:v>2.8</c:v>
                </c:pt>
                <c:pt idx="10">
                  <c:v>27.6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6-635F-4301-B632-3C1C871D26B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2B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26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2B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E1E4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7A92B4"/>
                </a:solidFill>
                <a:latin typeface="Arial"/>
              </a:defRPr>
            </a:pPr>
            <a:r>
              <a:rPr sz="1000" b="0" i="0" u="none" strike="noStrike">
                <a:solidFill>
                  <a:srgbClr val="7A92B4"/>
                </a:solidFill>
                <a:latin typeface="Arial"/>
              </a:rPr>
              <a:t>Rapport de Classification par classe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Classe 0 (Fidèle)</c:v>
                </c:pt>
              </c:strCache>
            </c:strRef>
          </c:tx>
          <c:spPr>
            <a:solidFill>
              <a:srgbClr val="4F8EF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C8D6E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Precision</c:v>
                </c:pt>
                <c:pt idx="1">
                  <c:v>Recall</c:v>
                </c:pt>
                <c:pt idx="2">
                  <c:v>F1-Score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96.3</c:v>
                </c:pt>
                <c:pt idx="1">
                  <c:v>97.9</c:v>
                </c:pt>
                <c:pt idx="2">
                  <c:v>97.1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8FD-46EA-BBB6-F2D64BAA0B9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Classe 1 (Churné)</c:v>
                </c:pt>
              </c:strCache>
            </c:strRef>
          </c:tx>
          <c:spPr>
            <a:solidFill>
              <a:srgbClr val="34D39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C8D6E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Precision</c:v>
                </c:pt>
                <c:pt idx="1">
                  <c:v>Recall</c:v>
                </c:pt>
                <c:pt idx="2">
                  <c:v>F1-Score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95.7</c:v>
                </c:pt>
                <c:pt idx="1">
                  <c:v>92.4</c:v>
                </c:pt>
                <c:pt idx="2">
                  <c:v>94.1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8FD-46EA-BBB6-F2D64BAA0B9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2B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1E326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2B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7A92B4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E1E4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3474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1371600"/>
            <a:ext cx="6400800" cy="6400800"/>
          </a:xfrm>
          <a:prstGeom prst="ellipse">
            <a:avLst/>
          </a:prstGeom>
          <a:solidFill>
            <a:srgbClr val="112247"/>
          </a:solidFill>
          <a:ln w="12700">
            <a:solidFill>
              <a:srgbClr val="1122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457200"/>
            <a:ext cx="4572000" cy="4572000"/>
          </a:xfrm>
          <a:prstGeom prst="ellipse">
            <a:avLst/>
          </a:prstGeom>
          <a:solidFill>
            <a:srgbClr val="1E3260"/>
          </a:solidFill>
          <a:ln w="12700">
            <a:solidFill>
              <a:srgbClr val="1E32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005840"/>
            <a:ext cx="2377440" cy="29260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058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ATELIER MACHINE LEARNING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1444752"/>
            <a:ext cx="6858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Comportementale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Clientèle Retail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02920" y="301752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EB3FF"/>
                </a:solidFill>
              </a:rPr>
              <a:t>Pipeline complet ML : Exploration → Préparation → Modélisation → Déploiement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3749040"/>
            <a:ext cx="2286000" cy="594360"/>
          </a:xfrm>
          <a:prstGeom prst="rect">
            <a:avLst/>
          </a:prstGeom>
          <a:solidFill>
            <a:srgbClr val="0E1E45"/>
          </a:solidFill>
          <a:ln w="12700">
            <a:solidFill>
              <a:srgbClr val="1E32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7490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6E8"/>
                </a:solidFill>
              </a:rPr>
              <a:t>E-Commerce de Cadeaux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063240" y="3749040"/>
            <a:ext cx="2286000" cy="594360"/>
          </a:xfrm>
          <a:prstGeom prst="rect">
            <a:avLst/>
          </a:prstGeom>
          <a:solidFill>
            <a:srgbClr val="0E1E45"/>
          </a:solidFill>
          <a:ln w="12700">
            <a:solidFill>
              <a:srgbClr val="1E32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63240" y="37490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6E8"/>
                </a:solidFill>
              </a:rPr>
              <a:t>4 372 clients · 52 features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0" y="3776472"/>
            <a:ext cx="2286000" cy="594360"/>
          </a:xfrm>
          <a:prstGeom prst="rect">
            <a:avLst/>
          </a:prstGeom>
          <a:solidFill>
            <a:srgbClr val="0E1E45"/>
          </a:solidFill>
          <a:ln w="12700">
            <a:solidFill>
              <a:srgbClr val="1E3260"/>
            </a:solidFill>
            <a:prstDash val="solid"/>
          </a:ln>
        </p:spPr>
        <p:txBody>
          <a:bodyPr/>
          <a:lstStyle/>
          <a:p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5623560" y="37490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6E8"/>
                </a:solidFill>
              </a:rPr>
              <a:t>GI2S4 — 2025/2026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4196766B-609C-0290-F688-778C67428EC4}"/>
              </a:ext>
            </a:extLst>
          </p:cNvPr>
          <p:cNvSpPr/>
          <p:nvPr/>
        </p:nvSpPr>
        <p:spPr>
          <a:xfrm>
            <a:off x="8142316" y="3817620"/>
            <a:ext cx="2286000" cy="594360"/>
          </a:xfrm>
          <a:prstGeom prst="rect">
            <a:avLst/>
          </a:prstGeom>
          <a:solidFill>
            <a:srgbClr val="0E1E45"/>
          </a:solidFill>
          <a:ln w="12700">
            <a:solidFill>
              <a:srgbClr val="1E3260"/>
            </a:solidFill>
            <a:prstDash val="solid"/>
          </a:ln>
        </p:spPr>
        <p:txBody>
          <a:bodyPr/>
          <a:lstStyle/>
          <a:p>
            <a:r>
              <a:rPr lang="fr-FR" dirty="0">
                <a:solidFill>
                  <a:schemeClr val="bg1">
                    <a:lumMod val="75000"/>
                  </a:schemeClr>
                </a:solidFill>
              </a:rPr>
              <a:t>Moujtaba Ghrissi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347472" cy="34747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256032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Contexte &amp; Objectifs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3931920" cy="3566160"/>
          </a:xfrm>
          <a:prstGeom prst="rect">
            <a:avLst/>
          </a:prstGeom>
          <a:solidFill>
            <a:srgbClr val="0E1E45"/>
          </a:solidFill>
          <a:ln w="12700">
            <a:solidFill>
              <a:srgbClr val="1E32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60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EB3FF"/>
                </a:solidFill>
              </a:rPr>
              <a:t>Contexte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353312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8D6E8"/>
                </a:solidFill>
              </a:rPr>
              <a:t>Entreprise e-commerce de cadeaux en ligne souhaitant mieux comprendre sa clientèle.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C8D6E8"/>
                </a:solidFill>
              </a:rPr>
              <a:t> 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C8D6E8"/>
                </a:solidFill>
              </a:rPr>
              <a:t>Base de données : </a:t>
            </a:r>
            <a:r>
              <a:rPr lang="en-US" sz="1200" dirty="0">
                <a:solidFill>
                  <a:srgbClr val="C8D6E8"/>
                </a:solidFill>
              </a:rPr>
              <a:t>4 372 clients, 52 features issues de transactions réelles.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C8D6E8"/>
                </a:solidFill>
              </a:rPr>
              <a:t> 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C8D6E8"/>
                </a:solidFill>
              </a:rPr>
              <a:t>Problème : </a:t>
            </a:r>
            <a:r>
              <a:rPr lang="en-US" sz="1200" dirty="0">
                <a:solidFill>
                  <a:srgbClr val="C8D6E8"/>
                </a:solidFill>
              </a:rPr>
              <a:t>Données imparfaites — valeurs manquantes, outliers, formats incohérents, data leakage intentionnel.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822960"/>
            <a:ext cx="4206240" cy="3566160"/>
          </a:xfrm>
          <a:prstGeom prst="rect">
            <a:avLst/>
          </a:prstGeom>
          <a:solidFill>
            <a:srgbClr val="0E1E45"/>
          </a:solidFill>
          <a:ln w="12700">
            <a:solidFill>
              <a:srgbClr val="1E32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9601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C8"/>
                </a:solidFill>
              </a:rPr>
              <a:t>Objectifs Business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389888"/>
            <a:ext cx="292608" cy="29260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389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93208" y="1389888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Réduire le churn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93208" y="170992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2B4"/>
                </a:solidFill>
              </a:rPr>
              <a:t>Prédire les clients à risque de départ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2395728"/>
            <a:ext cx="292608" cy="29260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2395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93208" y="2395728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Segmenter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93208" y="271576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2B4"/>
                </a:solidFill>
              </a:rPr>
              <a:t>Identifier les profils comportementaux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3401568"/>
            <a:ext cx="292608" cy="29260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3401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93208" y="3401568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Personnaliser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93208" y="372160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2B4"/>
                </a:solidFill>
              </a:rPr>
              <a:t>Adapter les stratégies marketing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347472" cy="34747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256032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Structure du Dataset (52 Features)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1920240" cy="868680"/>
          </a:xfrm>
          <a:prstGeom prst="rect">
            <a:avLst/>
          </a:prstGeom>
          <a:solidFill>
            <a:srgbClr val="0E1E45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229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F8EF7"/>
                </a:solidFill>
              </a:rPr>
              <a:t>4 372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2344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2B4"/>
                </a:solidFill>
              </a:rPr>
              <a:t>Clients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777240"/>
            <a:ext cx="1920240" cy="868680"/>
          </a:xfrm>
          <a:prstGeom prst="rect">
            <a:avLst/>
          </a:prstGeom>
          <a:solidFill>
            <a:srgbClr val="0E1E45"/>
          </a:solidFill>
          <a:ln w="12700">
            <a:solidFill>
              <a:srgbClr val="22D3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8229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C8"/>
                </a:solidFill>
              </a:rPr>
              <a:t>52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468880" y="12344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2B4"/>
                </a:solidFill>
              </a:rPr>
              <a:t>Features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777240"/>
            <a:ext cx="1920240" cy="868680"/>
          </a:xfrm>
          <a:prstGeom prst="rect">
            <a:avLst/>
          </a:prstGeom>
          <a:solidFill>
            <a:srgbClr val="0E1E45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8229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87171"/>
                </a:solidFill>
              </a:rPr>
              <a:t>33%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0" y="12344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2B4"/>
                </a:solidFill>
              </a:rPr>
              <a:t>Taux Churn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75120" y="777240"/>
            <a:ext cx="1920240" cy="868680"/>
          </a:xfrm>
          <a:prstGeom prst="rect">
            <a:avLst/>
          </a:prstGeom>
          <a:solidFill>
            <a:srgbClr val="0E1E45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8229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BBF24"/>
                </a:solidFill>
              </a:rPr>
              <a:t>30%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675120" y="12344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2B4"/>
                </a:solidFill>
              </a:rPr>
              <a:t>NaN (Age)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874520"/>
            <a:ext cx="2651760" cy="1325880"/>
          </a:xfrm>
          <a:prstGeom prst="rect">
            <a:avLst/>
          </a:prstGeom>
          <a:solidFill>
            <a:srgbClr val="0E1E45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1874520"/>
            <a:ext cx="2651760" cy="27432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1874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Numériques RFM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5488" y="2194560"/>
            <a:ext cx="24323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6E8"/>
                </a:solidFill>
              </a:rPr>
              <a:t>Recency, Frequency, MonetaryTotal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8D6E8"/>
                </a:solidFill>
              </a:rPr>
              <a:t>MonetaryAvg, MonetaryStd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8D6E8"/>
                </a:solidFill>
              </a:rPr>
              <a:t>TotalQuantity, AvgQtyPerTrans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0" y="1874520"/>
            <a:ext cx="2651760" cy="1325880"/>
          </a:xfrm>
          <a:prstGeom prst="rect">
            <a:avLst/>
          </a:prstGeom>
          <a:solidFill>
            <a:srgbClr val="0E1E45"/>
          </a:solidFill>
          <a:ln w="12700">
            <a:solidFill>
              <a:srgbClr val="22D3C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1874520"/>
            <a:ext cx="2651760" cy="274320"/>
          </a:xfrm>
          <a:prstGeom prst="rect">
            <a:avLst/>
          </a:prstGeom>
          <a:solidFill>
            <a:srgbClr val="22D3C8"/>
          </a:solidFill>
          <a:ln w="12700">
            <a:solidFill>
              <a:srgbClr val="22D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0" y="1874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Comportement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310128" y="2194560"/>
            <a:ext cx="24323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6E8"/>
                </a:solidFill>
              </a:rPr>
              <a:t>UniqueProducts, ReturnRatio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8D6E8"/>
                </a:solidFill>
              </a:rPr>
              <a:t>CancelledTransactions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8D6E8"/>
                </a:solidFill>
              </a:rPr>
              <a:t>AvgDaysBetween, WeekendRatio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035040" y="1874520"/>
            <a:ext cx="2651760" cy="1325880"/>
          </a:xfrm>
          <a:prstGeom prst="rect">
            <a:avLst/>
          </a:prstGeom>
          <a:solidFill>
            <a:srgbClr val="0E1E45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35040" y="1874520"/>
            <a:ext cx="2651760" cy="2743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35040" y="1874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Temporalité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144768" y="2194560"/>
            <a:ext cx="24323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6E8"/>
                </a:solidFill>
              </a:rPr>
              <a:t>PreferredDay, PreferredHour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8D6E8"/>
                </a:solidFill>
              </a:rPr>
              <a:t>PreferredMonth, FavoriteSeason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8D6E8"/>
                </a:solidFill>
              </a:rPr>
              <a:t>RegistrationDate (parsing)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3337560"/>
            <a:ext cx="2651760" cy="1325880"/>
          </a:xfrm>
          <a:prstGeom prst="rect">
            <a:avLst/>
          </a:prstGeom>
          <a:solidFill>
            <a:srgbClr val="0E1E45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337560"/>
            <a:ext cx="2651760" cy="2743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3375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Catégorielles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75488" y="3657600"/>
            <a:ext cx="24323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6E8"/>
                </a:solidFill>
              </a:rPr>
              <a:t>Region, Country, Gender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8D6E8"/>
                </a:solidFill>
              </a:rPr>
              <a:t>AgeCategory, BasketSize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8D6E8"/>
                </a:solidFill>
              </a:rPr>
              <a:t>ProductDiversity, CustomerType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00400" y="3337560"/>
            <a:ext cx="2651760" cy="1325880"/>
          </a:xfrm>
          <a:prstGeom prst="rect">
            <a:avLst/>
          </a:prstGeom>
          <a:solidFill>
            <a:srgbClr val="0E1E45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0" y="3337560"/>
            <a:ext cx="2651760" cy="27432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0" y="33375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Qualité problèmes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310128" y="3657600"/>
            <a:ext cx="24323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6E8"/>
                </a:solidFill>
              </a:rPr>
              <a:t>Age → 30% NaN (KNN Imputation)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8D6E8"/>
                </a:solidFill>
              </a:rPr>
              <a:t>SupportTickets → valeurs 999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8D6E8"/>
                </a:solidFill>
              </a:rPr>
              <a:t>NewsletterSubscribed → constante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035040" y="3337560"/>
            <a:ext cx="2651760" cy="1325880"/>
          </a:xfrm>
          <a:prstGeom prst="rect">
            <a:avLst/>
          </a:prstGeom>
          <a:solidFill>
            <a:srgbClr val="0E1E45"/>
          </a:solidFill>
          <a:ln w="12700">
            <a:solidFill>
              <a:srgbClr val="7A92B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35040" y="3337560"/>
            <a:ext cx="2651760" cy="274320"/>
          </a:xfrm>
          <a:prstGeom prst="rect">
            <a:avLst/>
          </a:prstGeom>
          <a:solidFill>
            <a:srgbClr val="7A92B4"/>
          </a:solidFill>
          <a:ln w="12700">
            <a:solidFill>
              <a:srgbClr val="7A92B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35040" y="33375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Target &amp; Leakage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144768" y="3657600"/>
            <a:ext cx="24323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6E8"/>
                </a:solidFill>
              </a:rPr>
              <a:t>Churn (0/1) → variable cible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8D6E8"/>
                </a:solidFill>
              </a:rPr>
              <a:t>ChurnRisk, AccountStatus → supprimés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8D6E8"/>
                </a:solidFill>
              </a:rPr>
              <a:t>Satisfaction, RFMSegment → supprimés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347472" cy="34747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256032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Préparation des Données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4160520" cy="1280160"/>
          </a:xfrm>
          <a:prstGeom prst="rect">
            <a:avLst/>
          </a:prstGeom>
          <a:solidFill>
            <a:srgbClr val="0E1E45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22960"/>
            <a:ext cx="384048" cy="128016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3840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9144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Feature Engineering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1248" y="1216152"/>
            <a:ext cx="3566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8D6E8"/>
                </a:solidFill>
              </a:rPr>
              <a:t>MonetaryPerDay, AvgBasketValue, TenureRatio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8D6E8"/>
                </a:solidFill>
              </a:rPr>
              <a:t>Parsing RegistrationDate → RegYear/Month/Day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8D6E8"/>
                </a:solidFill>
              </a:rPr>
              <a:t>LastLoginIP → IsPrivateIP + IPVersion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822960"/>
            <a:ext cx="4160520" cy="1280160"/>
          </a:xfrm>
          <a:prstGeom prst="rect">
            <a:avLst/>
          </a:prstGeom>
          <a:solidFill>
            <a:srgbClr val="0E1E45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822960"/>
            <a:ext cx="384048" cy="12801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822960"/>
            <a:ext cx="3840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30368" y="9144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Suppression Leakage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30368" y="1216152"/>
            <a:ext cx="3566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8D6E8"/>
                </a:solidFill>
              </a:rPr>
              <a:t>13 colonnes supprimées : ChurnRisk, AccountStatus,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8D6E8"/>
                </a:solidFill>
              </a:rPr>
              <a:t>CustomerType, RFMSegment, Recency, FavoriteSeason,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8D6E8"/>
                </a:solidFill>
              </a:rPr>
              <a:t>Satisfaction, SupportTickets...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240280"/>
            <a:ext cx="4160520" cy="1280160"/>
          </a:xfrm>
          <a:prstGeom prst="rect">
            <a:avLst/>
          </a:prstGeom>
          <a:solidFill>
            <a:srgbClr val="0E1E45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240280"/>
            <a:ext cx="384048" cy="128016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3840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1248" y="2331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Features Inutiles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41248" y="2633472"/>
            <a:ext cx="3566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8D6E8"/>
                </a:solidFill>
              </a:rPr>
              <a:t>NewsletterSubscribed (constante unique)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8D6E8"/>
                </a:solidFill>
              </a:rPr>
              <a:t>IPVersion (variance nulle)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8D6E8"/>
                </a:solidFill>
              </a:rPr>
              <a:t>Seuil NaN &gt; 50% → suppression automatique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2240280"/>
            <a:ext cx="4160520" cy="1280160"/>
          </a:xfrm>
          <a:prstGeom prst="rect">
            <a:avLst/>
          </a:prstGeom>
          <a:solidFill>
            <a:srgbClr val="0E1E45"/>
          </a:solidFill>
          <a:ln w="12700">
            <a:solidFill>
              <a:srgbClr val="22D3C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2240280"/>
            <a:ext cx="384048" cy="1280160"/>
          </a:xfrm>
          <a:prstGeom prst="rect">
            <a:avLst/>
          </a:prstGeom>
          <a:solidFill>
            <a:srgbClr val="22D3C8"/>
          </a:solidFill>
          <a:ln w="12700">
            <a:solidFill>
              <a:srgbClr val="22D3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240280"/>
            <a:ext cx="3840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230368" y="2331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Train / Test Split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30368" y="2633472"/>
            <a:ext cx="3566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8D6E8"/>
                </a:solidFill>
              </a:rPr>
              <a:t>80% Train (3 497 clients)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8D6E8"/>
                </a:solidFill>
              </a:rPr>
              <a:t>20% Test (875 clients)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8D6E8"/>
                </a:solidFill>
              </a:rPr>
              <a:t>Stratifié sur Churn — reproductibilité random_state=42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3657600"/>
            <a:ext cx="4160520" cy="1280160"/>
          </a:xfrm>
          <a:prstGeom prst="rect">
            <a:avLst/>
          </a:prstGeom>
          <a:solidFill>
            <a:srgbClr val="0E1E45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657600"/>
            <a:ext cx="384048" cy="12801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657600"/>
            <a:ext cx="3840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41248" y="3749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Imputation KNN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41248" y="4050792"/>
            <a:ext cx="3566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8D6E8"/>
                </a:solidFill>
              </a:rPr>
              <a:t>KNNImputer (k=5) sur features numériques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8D6E8"/>
                </a:solidFill>
              </a:rPr>
              <a:t>Mode Imputer sur features catégorielles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8D6E8"/>
                </a:solidFill>
              </a:rPr>
              <a:t>Fit sur train, transform sur test uniquement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0" y="3657600"/>
            <a:ext cx="4160520" cy="1280160"/>
          </a:xfrm>
          <a:prstGeom prst="rect">
            <a:avLst/>
          </a:prstGeom>
          <a:solidFill>
            <a:srgbClr val="0E1E45"/>
          </a:solidFill>
          <a:ln w="12700">
            <a:solidFill>
              <a:srgbClr val="7EB3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3657600"/>
            <a:ext cx="384048" cy="1280160"/>
          </a:xfrm>
          <a:prstGeom prst="rect">
            <a:avLst/>
          </a:prstGeom>
          <a:solidFill>
            <a:srgbClr val="7EB3FF"/>
          </a:solidFill>
          <a:ln w="12700">
            <a:solidFill>
              <a:srgbClr val="7EB3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657600"/>
            <a:ext cx="3840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230368" y="3749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Multicolinéarité + Scale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230368" y="4050792"/>
            <a:ext cx="3566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8D6E8"/>
                </a:solidFill>
              </a:rPr>
              <a:t>10 features supprimées (|corr| &gt; 0.85)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8D6E8"/>
                </a:solidFill>
              </a:rPr>
              <a:t>StandardScaler fit sur train uniquement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8D6E8"/>
                </a:solidFill>
              </a:rPr>
              <a:t>ACP : 19 composantes → 95% variance conservée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347472" cy="34747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256032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Problème Clé : Data Leakage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8412480" cy="640080"/>
          </a:xfrm>
          <a:prstGeom prst="rect">
            <a:avLst/>
          </a:prstGeom>
          <a:solidFill>
            <a:srgbClr val="2A0A0A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7171"/>
                </a:solidFill>
              </a:rPr>
              <a:t>⚠  Symptôme : Accuracy = 1.000, F1 = 1.000 → Le modèle "trichait" en utilisant des colonnes dérivées de Churn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3931920" cy="3154680"/>
          </a:xfrm>
          <a:prstGeom prst="rect">
            <a:avLst/>
          </a:prstGeom>
          <a:solidFill>
            <a:srgbClr val="0E1E45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600200"/>
            <a:ext cx="3931920" cy="32004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6002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AVANT — Accuracy 1.000 (faux)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1993392"/>
            <a:ext cx="201168" cy="20116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984248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6E8"/>
                </a:solidFill>
              </a:rPr>
              <a:t>ChurnRisk → calculé depuis Churn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2322576"/>
            <a:ext cx="201168" cy="20116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313432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6E8"/>
                </a:solidFill>
              </a:rPr>
              <a:t>AccountStatus = 'Closed' → churné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2651760"/>
            <a:ext cx="201168" cy="20116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642616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6E8"/>
                </a:solidFill>
              </a:rPr>
              <a:t>CustomerType = 'Perdu' → churné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2980944"/>
            <a:ext cx="201168" cy="20116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2971800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6E8"/>
                </a:solidFill>
              </a:rPr>
              <a:t>Satisfaction → post-événement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3310128"/>
            <a:ext cx="201168" cy="20116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300984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6E8"/>
                </a:solidFill>
              </a:rPr>
              <a:t>SupportTickets → post-événement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2920" y="3639312"/>
            <a:ext cx="201168" cy="20116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630168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6E8"/>
                </a:solidFill>
              </a:rPr>
              <a:t>RFMSegment → post-événement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3968496"/>
            <a:ext cx="201168" cy="20116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3959352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6E8"/>
                </a:solidFill>
              </a:rPr>
              <a:t>Recency → corr = 0.86 avec Churn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920" y="4297680"/>
            <a:ext cx="201168" cy="20116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4288536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6E8"/>
                </a:solidFill>
              </a:rPr>
              <a:t>FavoriteSeason → corr = 0.55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46320" y="1600200"/>
            <a:ext cx="3931920" cy="3154680"/>
          </a:xfrm>
          <a:prstGeom prst="rect">
            <a:avLst/>
          </a:prstGeom>
          <a:solidFill>
            <a:srgbClr val="0E1E45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0" y="1600200"/>
            <a:ext cx="3931920" cy="3200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16002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0B18"/>
                </a:solidFill>
              </a:rPr>
              <a:t>APRÈS — Accuracy 0.961 (réaliste)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983480" y="2011680"/>
            <a:ext cx="3611880" cy="566928"/>
          </a:xfrm>
          <a:prstGeom prst="rect">
            <a:avLst/>
          </a:prstGeom>
          <a:solidFill>
            <a:srgbClr val="071E10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2029968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4D399"/>
                </a:solidFill>
              </a:rPr>
              <a:t>Suppression en preprocessing.py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120640" y="2304288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2B4"/>
                </a:solidFill>
              </a:rPr>
              <a:t>Avant le split train/test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983480" y="2670048"/>
            <a:ext cx="3611880" cy="566928"/>
          </a:xfrm>
          <a:prstGeom prst="rect">
            <a:avLst/>
          </a:prstGeom>
          <a:solidFill>
            <a:srgbClr val="071E10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20640" y="2688336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4D399"/>
                </a:solidFill>
              </a:rPr>
              <a:t>Double filtre dans train_model.py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120640" y="2962656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2B4"/>
                </a:solidFill>
              </a:rPr>
              <a:t>Noms exacts + sous-chaînes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983480" y="3328416"/>
            <a:ext cx="3611880" cy="566928"/>
          </a:xfrm>
          <a:prstGeom prst="rect">
            <a:avLst/>
          </a:prstGeom>
          <a:solidFill>
            <a:srgbClr val="071E10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20640" y="3346704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4D399"/>
                </a:solidFill>
              </a:rPr>
              <a:t>Diagnostic automatique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120640" y="3621024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2B4"/>
                </a:solidFill>
              </a:rPr>
              <a:t>Corrélation &gt; 0.7 → alerte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983480" y="3986784"/>
            <a:ext cx="3611880" cy="566928"/>
          </a:xfrm>
          <a:prstGeom prst="rect">
            <a:avLst/>
          </a:prstGeom>
          <a:solidFill>
            <a:srgbClr val="071E10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20640" y="4005072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4D399"/>
                </a:solidFill>
              </a:rPr>
              <a:t>13 colonnes supprimées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120640" y="4279392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2B4"/>
                </a:solidFill>
              </a:rPr>
              <a:t>Corrélation max résiduelle : 0.30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347472" cy="347472"/>
          </a:xfrm>
          <a:prstGeom prst="rect">
            <a:avLst/>
          </a:prstGeom>
          <a:solidFill>
            <a:srgbClr val="22D3C8"/>
          </a:solidFill>
          <a:ln w="12700">
            <a:solidFill>
              <a:srgbClr val="22D3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0B18"/>
                </a:solidFill>
              </a:rPr>
              <a:t>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25603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Clustering KMeans — Segmentation Clients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949440" y="201168"/>
            <a:ext cx="1828800" cy="457200"/>
          </a:xfrm>
          <a:prstGeom prst="rect">
            <a:avLst/>
          </a:prstGeom>
          <a:solidFill>
            <a:srgbClr val="0E1E45"/>
          </a:solidFill>
          <a:ln w="12700">
            <a:solidFill>
              <a:srgbClr val="22D3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0" y="20116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92B4"/>
                </a:solidFill>
              </a:rPr>
              <a:t>Silhouette Score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949440" y="3840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D3C8"/>
                </a:solidFill>
              </a:rPr>
              <a:t>0.953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" y="914400"/>
            <a:ext cx="2011680" cy="3840480"/>
          </a:xfrm>
          <a:prstGeom prst="rect">
            <a:avLst/>
          </a:prstGeom>
          <a:solidFill>
            <a:srgbClr val="0E1E45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914400"/>
            <a:ext cx="2011680" cy="4572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9144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Champions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463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4D399"/>
                </a:solidFill>
              </a:rPr>
              <a:t>~28%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18288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92B4"/>
                </a:solidFill>
              </a:rPr>
              <a:t>des clients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02920" y="2176272"/>
            <a:ext cx="17373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6E8"/>
                </a:solidFill>
              </a:rPr>
              <a:t>→  Très haute fréquence d'achat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2743200"/>
            <a:ext cx="17373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6E8"/>
                </a:solidFill>
              </a:rPr>
              <a:t>→  Valeur monétaire élevée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3310128"/>
            <a:ext cx="17373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6E8"/>
                </a:solidFill>
              </a:rPr>
              <a:t>→  Très récents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3877056"/>
            <a:ext cx="17373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6E8"/>
                </a:solidFill>
              </a:rPr>
              <a:t>→  Priorité fidélisation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514600" y="914400"/>
            <a:ext cx="2011680" cy="3840480"/>
          </a:xfrm>
          <a:prstGeom prst="rect">
            <a:avLst/>
          </a:prstGeom>
          <a:solidFill>
            <a:srgbClr val="0E1E45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14600" y="914400"/>
            <a:ext cx="2011680" cy="45720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9144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Fidèles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514600" y="1463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F8EF7"/>
                </a:solidFill>
              </a:rPr>
              <a:t>~24%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2514600" y="18288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92B4"/>
                </a:solidFill>
              </a:rPr>
              <a:t>des clients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651760" y="2176272"/>
            <a:ext cx="17373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6E8"/>
                </a:solidFill>
              </a:rPr>
              <a:t>→  Fréquence régulière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651760" y="2743200"/>
            <a:ext cx="17373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6E8"/>
                </a:solidFill>
              </a:rPr>
              <a:t>→  Valeur moyenne à haute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651760" y="3310128"/>
            <a:ext cx="17373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6E8"/>
                </a:solidFill>
              </a:rPr>
              <a:t>→  Bon potentiel upsell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651760" y="3877056"/>
            <a:ext cx="17373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6E8"/>
                </a:solidFill>
              </a:rPr>
              <a:t>→  Récompenser leur loyauté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914400"/>
            <a:ext cx="2011680" cy="3840480"/>
          </a:xfrm>
          <a:prstGeom prst="rect">
            <a:avLst/>
          </a:prstGeom>
          <a:solidFill>
            <a:srgbClr val="0E1E45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914400"/>
            <a:ext cx="2011680" cy="4572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9144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0B18"/>
                </a:solidFill>
              </a:rPr>
              <a:t>Potentiels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663440" y="1463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BBF24"/>
                </a:solidFill>
              </a:rPr>
              <a:t>~26%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4663440" y="18288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92B4"/>
                </a:solidFill>
              </a:rPr>
              <a:t>des clients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800600" y="2176272"/>
            <a:ext cx="17373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6E8"/>
                </a:solidFill>
              </a:rPr>
              <a:t>→  Acheteurs récents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00600" y="2743200"/>
            <a:ext cx="17373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6E8"/>
                </a:solidFill>
              </a:rPr>
              <a:t>→  Fréquence encore faible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00600" y="3310128"/>
            <a:ext cx="17373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6E8"/>
                </a:solidFill>
              </a:rPr>
              <a:t>→  Potentiel de croissance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00600" y="3877056"/>
            <a:ext cx="17373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6E8"/>
                </a:solidFill>
              </a:rPr>
              <a:t>→  Campagnes d'engagement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812280" y="914400"/>
            <a:ext cx="2011680" cy="3840480"/>
          </a:xfrm>
          <a:prstGeom prst="rect">
            <a:avLst/>
          </a:prstGeom>
          <a:solidFill>
            <a:srgbClr val="0E1E45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12280" y="914400"/>
            <a:ext cx="2011680" cy="4572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12280" y="9144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Dormants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812280" y="1463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7171"/>
                </a:solidFill>
              </a:rPr>
              <a:t>~22%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6812280" y="18288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92B4"/>
                </a:solidFill>
              </a:rPr>
              <a:t>des clients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949440" y="2176272"/>
            <a:ext cx="17373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6E8"/>
                </a:solidFill>
              </a:rPr>
              <a:t>→  Inactifs depuis longtemps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949440" y="2743200"/>
            <a:ext cx="17373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6E8"/>
                </a:solidFill>
              </a:rPr>
              <a:t>→  Valeur faible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949440" y="3310128"/>
            <a:ext cx="17373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6E8"/>
                </a:solidFill>
              </a:rPr>
              <a:t>→  Risque churn critique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949440" y="3877056"/>
            <a:ext cx="17373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6E8"/>
                </a:solidFill>
              </a:rPr>
              <a:t>→  Campagnes de réactivation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92B4"/>
                </a:solidFill>
              </a:rPr>
              <a:t>Algorithme : KMeans (k=4, n_init=10, random_state=42)  ·  Entrée : features numériques nettoyées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347472" cy="34747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25603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Modélisation — Random Forest + GridSearchCV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4114800" cy="3977640"/>
          </a:xfrm>
          <a:prstGeom prst="rect">
            <a:avLst/>
          </a:prstGeom>
          <a:solidFill>
            <a:srgbClr val="0E1E45"/>
          </a:solidFill>
          <a:ln w="12700">
            <a:solidFill>
              <a:srgbClr val="1E32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1440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EB3FF"/>
                </a:solidFill>
              </a:rPr>
              <a:t>Pourquoi Random Forest 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30352" y="1307592"/>
            <a:ext cx="164592" cy="164592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29844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E8"/>
                </a:solidFill>
              </a:rPr>
              <a:t>Robuste aux données déséquilibrées (class_weight='balanced')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30352" y="1837944"/>
            <a:ext cx="164592" cy="164592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828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E8"/>
                </a:solidFill>
              </a:rPr>
              <a:t>Pas besoin de normalisation préalable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30352" y="2368296"/>
            <a:ext cx="164592" cy="164592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35915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E8"/>
                </a:solidFill>
              </a:rPr>
              <a:t>Fournit l'importance des features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0352" y="2898648"/>
            <a:ext cx="164592" cy="164592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889504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E8"/>
                </a:solidFill>
              </a:rPr>
              <a:t>Résistant au sur-apprentissage (ensemble d'arbres)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30352" y="3429000"/>
            <a:ext cx="164592" cy="164592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419856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E8"/>
                </a:solidFill>
              </a:rPr>
              <a:t>Performant sur données mixtes (num + cat)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400507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A92B4"/>
                </a:solidFill>
              </a:rPr>
              <a:t>GridSearchCV — Hyperparamètres testés 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427939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6E8"/>
                </a:solidFill>
              </a:rPr>
              <a:t>n_estimators: [100,200]  ·  max_depth: [6,10,15]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8D6E8"/>
                </a:solidFill>
              </a:rPr>
              <a:t>min_samples_split: [5,10]  ·  min_samples_leaf: [2,5]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8D6E8"/>
                </a:solidFill>
              </a:rPr>
              <a:t>CV=5-fold, scoring='f1'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804672"/>
            <a:ext cx="4023360" cy="3977640"/>
          </a:xfrm>
          <a:prstGeom prst="rect">
            <a:avLst/>
          </a:prstGeom>
          <a:solidFill>
            <a:srgbClr val="0E1E45"/>
          </a:solidFill>
          <a:ln w="12700">
            <a:solidFill>
              <a:srgbClr val="1E32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91440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EB3FF"/>
                </a:solidFill>
              </a:rPr>
              <a:t>Résultats sur jeu de test (875 clients)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92040" y="13258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2B4"/>
                </a:solidFill>
              </a:rPr>
              <a:t>Accuracy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63640" y="1371600"/>
            <a:ext cx="1920240" cy="201168"/>
          </a:xfrm>
          <a:prstGeom prst="rect">
            <a:avLst/>
          </a:prstGeom>
          <a:solidFill>
            <a:srgbClr val="060B18"/>
          </a:solidFill>
          <a:ln w="12700">
            <a:solidFill>
              <a:srgbClr val="060B1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63640" y="1371600"/>
            <a:ext cx="1632204" cy="20116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0" y="132588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</a:rPr>
              <a:t>96.1%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92040" y="198424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2B4"/>
                </a:solidFill>
              </a:rPr>
              <a:t>F1-Score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63640" y="2029968"/>
            <a:ext cx="1920240" cy="201168"/>
          </a:xfrm>
          <a:prstGeom prst="rect">
            <a:avLst/>
          </a:prstGeom>
          <a:solidFill>
            <a:srgbClr val="060B18"/>
          </a:solidFill>
          <a:ln w="12700">
            <a:solidFill>
              <a:srgbClr val="060B1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63640" y="2029968"/>
            <a:ext cx="1536192" cy="20116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0" y="198424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8EF7"/>
                </a:solidFill>
              </a:rPr>
              <a:t>94.1%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92040" y="264261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2B4"/>
                </a:solidFill>
              </a:rPr>
              <a:t>Precision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63640" y="2688336"/>
            <a:ext cx="1920240" cy="201168"/>
          </a:xfrm>
          <a:prstGeom prst="rect">
            <a:avLst/>
          </a:prstGeom>
          <a:solidFill>
            <a:srgbClr val="060B18"/>
          </a:solidFill>
          <a:ln w="12700">
            <a:solidFill>
              <a:srgbClr val="060B1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63640" y="2688336"/>
            <a:ext cx="1574597" cy="201168"/>
          </a:xfrm>
          <a:prstGeom prst="rect">
            <a:avLst/>
          </a:prstGeom>
          <a:solidFill>
            <a:srgbClr val="22D3C8"/>
          </a:solidFill>
          <a:ln w="12700">
            <a:solidFill>
              <a:srgbClr val="22D3C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0" y="264261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C8"/>
                </a:solidFill>
              </a:rPr>
              <a:t>95.7%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92040" y="330098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2B4"/>
                </a:solidFill>
              </a:rPr>
              <a:t>Recall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63640" y="3346704"/>
            <a:ext cx="1920240" cy="201168"/>
          </a:xfrm>
          <a:prstGeom prst="rect">
            <a:avLst/>
          </a:prstGeom>
          <a:solidFill>
            <a:srgbClr val="060B18"/>
          </a:solidFill>
          <a:ln w="12700">
            <a:solidFill>
              <a:srgbClr val="060B1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63640" y="3346704"/>
            <a:ext cx="1497787" cy="20116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0" y="3300984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</a:rPr>
              <a:t>92.4%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92040" y="404164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A92B4"/>
                </a:solidFill>
              </a:rPr>
              <a:t>Matrice de Confusion :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92040" y="4297680"/>
            <a:ext cx="1188720" cy="228600"/>
          </a:xfrm>
          <a:prstGeom prst="rect">
            <a:avLst/>
          </a:prstGeom>
          <a:solidFill>
            <a:srgbClr val="0E1E45"/>
          </a:solidFill>
          <a:ln w="12700">
            <a:solidFill>
              <a:srgbClr val="1E326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42976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26480" y="4297680"/>
            <a:ext cx="1188720" cy="228600"/>
          </a:xfrm>
          <a:prstGeom prst="rect">
            <a:avLst/>
          </a:prstGeom>
          <a:solidFill>
            <a:srgbClr val="0E1E45"/>
          </a:solidFill>
          <a:ln w="12700">
            <a:solidFill>
              <a:srgbClr val="1E326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26480" y="42976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D6E8"/>
                </a:solidFill>
              </a:rPr>
              <a:t>Prédit 0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360920" y="4297680"/>
            <a:ext cx="1188720" cy="228600"/>
          </a:xfrm>
          <a:prstGeom prst="rect">
            <a:avLst/>
          </a:prstGeom>
          <a:solidFill>
            <a:srgbClr val="0E1E45"/>
          </a:solidFill>
          <a:ln w="12700">
            <a:solidFill>
              <a:srgbClr val="1E326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60920" y="42976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D6E8"/>
                </a:solidFill>
              </a:rPr>
              <a:t>Prédit 1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892040" y="4526280"/>
            <a:ext cx="1188720" cy="228600"/>
          </a:xfrm>
          <a:prstGeom prst="rect">
            <a:avLst/>
          </a:prstGeom>
          <a:solidFill>
            <a:srgbClr val="0E1E45"/>
          </a:solidFill>
          <a:ln w="12700">
            <a:solidFill>
              <a:srgbClr val="1E326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92040" y="45262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D6E8"/>
                </a:solidFill>
              </a:rPr>
              <a:t>Réel 0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126480" y="4526280"/>
            <a:ext cx="1188720" cy="228600"/>
          </a:xfrm>
          <a:prstGeom prst="rect">
            <a:avLst/>
          </a:prstGeom>
          <a:solidFill>
            <a:srgbClr val="000000"/>
          </a:solidFill>
          <a:ln w="12700">
            <a:solidFill>
              <a:srgbClr val="1E326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26480" y="45262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4D399"/>
                </a:solidFill>
              </a:rPr>
              <a:t>571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360920" y="4526280"/>
            <a:ext cx="1188720" cy="228600"/>
          </a:xfrm>
          <a:prstGeom prst="rect">
            <a:avLst/>
          </a:prstGeom>
          <a:solidFill>
            <a:srgbClr val="000000"/>
          </a:solidFill>
          <a:ln w="12700">
            <a:solidFill>
              <a:srgbClr val="1E326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360920" y="45262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2B4"/>
                </a:solidFill>
              </a:rPr>
              <a:t>13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892040" y="4754880"/>
            <a:ext cx="1188720" cy="228600"/>
          </a:xfrm>
          <a:prstGeom prst="rect">
            <a:avLst/>
          </a:prstGeom>
          <a:solidFill>
            <a:srgbClr val="0E1E45"/>
          </a:solidFill>
          <a:ln w="12700">
            <a:solidFill>
              <a:srgbClr val="1E326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92040" y="47548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D6E8"/>
                </a:solidFill>
              </a:rPr>
              <a:t>Réel 1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126480" y="4754880"/>
            <a:ext cx="1188720" cy="228600"/>
          </a:xfrm>
          <a:prstGeom prst="rect">
            <a:avLst/>
          </a:prstGeom>
          <a:solidFill>
            <a:srgbClr val="000000"/>
          </a:solidFill>
          <a:ln w="12700">
            <a:solidFill>
              <a:srgbClr val="1E326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126480" y="47548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2B4"/>
                </a:solidFill>
              </a:rPr>
              <a:t>21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360920" y="4754880"/>
            <a:ext cx="1188720" cy="228600"/>
          </a:xfrm>
          <a:prstGeom prst="rect">
            <a:avLst/>
          </a:prstGeom>
          <a:solidFill>
            <a:srgbClr val="000000"/>
          </a:solidFill>
          <a:ln w="12700">
            <a:solidFill>
              <a:srgbClr val="1E326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360920" y="47548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4D399"/>
                </a:solidFill>
              </a:rPr>
              <a:t>270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347472" cy="34747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256032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Réduction Dimensionnelle — ACP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3840480" cy="3977640"/>
          </a:xfrm>
          <a:prstGeom prst="rect">
            <a:avLst/>
          </a:prstGeom>
          <a:solidFill>
            <a:srgbClr val="0E1E45"/>
          </a:solidFill>
          <a:ln w="12700">
            <a:solidFill>
              <a:srgbClr val="1E32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1440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EB3FF"/>
                </a:solidFill>
              </a:rPr>
              <a:t>Pourquoi l'ACP 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35331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C8"/>
                </a:solidFill>
              </a:rPr>
              <a:t>Malédiction de la dim.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60934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8"/>
                </a:solidFill>
              </a:rPr>
              <a:t>52 features → risque de bruit et surapprentissage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06654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C8"/>
                </a:solidFill>
              </a:rPr>
              <a:t>Multicolinéarité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32257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8"/>
                </a:solidFill>
              </a:rPr>
              <a:t>Plusieurs features fortement corrélées entre elles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77977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C8"/>
                </a:solidFill>
              </a:rPr>
              <a:t>Visualisation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03580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8"/>
                </a:solidFill>
              </a:rPr>
              <a:t>Réduction en 2D/3D pour explorer les clusters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49300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C8"/>
                </a:solidFill>
              </a:rPr>
              <a:t>Performance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749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8"/>
                </a:solidFill>
              </a:rPr>
              <a:t>Moins de dimensions = calculs plus rapides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4160520"/>
            <a:ext cx="3566160" cy="502920"/>
          </a:xfrm>
          <a:prstGeom prst="rect">
            <a:avLst/>
          </a:prstGeom>
          <a:solidFill>
            <a:srgbClr val="071828"/>
          </a:solidFill>
          <a:ln w="12700">
            <a:solidFill>
              <a:srgbClr val="22D3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1605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D3C8"/>
                </a:solidFill>
              </a:rPr>
              <a:t>Résultat : 34 features num. → 19 composantes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2D3C8"/>
                </a:solidFill>
              </a:rPr>
              <a:t>Conservant 95% de la variance totale</a:t>
            </a:r>
            <a:endParaRPr lang="en-US" sz="10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4480560" y="804672"/>
          <a:ext cx="438912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Shape 1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347472" cy="34747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256032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Architecture du Pipeline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325880" cy="1371600"/>
          </a:xfrm>
          <a:prstGeom prst="rect">
            <a:avLst/>
          </a:prstGeom>
          <a:solidFill>
            <a:srgbClr val="0E1E45"/>
          </a:solidFill>
          <a:ln w="12700">
            <a:solidFill>
              <a:srgbClr val="7A92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5156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📂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146304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A92B4"/>
                </a:solidFill>
              </a:rPr>
              <a:t>retail.csv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74320" y="1810512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92B4"/>
                </a:solidFill>
              </a:rPr>
              <a:t>4372 lignes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A92B4"/>
                </a:solidFill>
              </a:rPr>
              <a:t>52 features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600200" y="1673352"/>
            <a:ext cx="137160" cy="36576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0200" y="1581912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F8EF7"/>
                </a:solidFill>
              </a:rPr>
              <a:t>→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737360" y="1005840"/>
            <a:ext cx="1325880" cy="1371600"/>
          </a:xfrm>
          <a:prstGeom prst="rect">
            <a:avLst/>
          </a:prstGeom>
          <a:solidFill>
            <a:srgbClr val="0E1E45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37360" y="105156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737360" y="146304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F8EF7"/>
                </a:solidFill>
              </a:rPr>
              <a:t>preprocessing.py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737360" y="1810512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92B4"/>
                </a:solidFill>
              </a:rPr>
              <a:t>Nettoyage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A92B4"/>
                </a:solidFill>
              </a:rPr>
              <a:t>Split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A92B4"/>
                </a:solidFill>
              </a:rPr>
              <a:t>Scale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063240" y="1673352"/>
            <a:ext cx="137160" cy="36576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63240" y="1581912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F8EF7"/>
                </a:solidFill>
              </a:rPr>
              <a:t>→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0" y="1005840"/>
            <a:ext cx="1325880" cy="1371600"/>
          </a:xfrm>
          <a:prstGeom prst="rect">
            <a:avLst/>
          </a:prstGeom>
          <a:solidFill>
            <a:srgbClr val="0E1E45"/>
          </a:solidFill>
          <a:ln w="12700">
            <a:solidFill>
              <a:srgbClr val="22D3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0" y="105156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💾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200400" y="146304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D3C8"/>
                </a:solidFill>
              </a:rPr>
              <a:t>X_train / X_test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00400" y="1810512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92B4"/>
                </a:solidFill>
              </a:rPr>
              <a:t>CSVs sauvegardés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A92B4"/>
                </a:solidFill>
              </a:rPr>
              <a:t>data/train_test/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26280" y="1673352"/>
            <a:ext cx="137160" cy="36576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26280" y="1581912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F8EF7"/>
                </a:solidFill>
              </a:rPr>
              <a:t>→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63440" y="1005840"/>
            <a:ext cx="1325880" cy="1371600"/>
          </a:xfrm>
          <a:prstGeom prst="rect">
            <a:avLst/>
          </a:prstGeom>
          <a:solidFill>
            <a:srgbClr val="0E1E45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105156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🌲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663440" y="146304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BBF24"/>
                </a:solidFill>
              </a:rPr>
              <a:t>train_model.py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663440" y="1810512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92B4"/>
                </a:solidFill>
              </a:rPr>
              <a:t>KMeans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A92B4"/>
                </a:solidFill>
              </a:rPr>
              <a:t>Random Forest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A92B4"/>
                </a:solidFill>
              </a:rPr>
              <a:t>Encoder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989320" y="1673352"/>
            <a:ext cx="137160" cy="36576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89320" y="1581912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F8EF7"/>
                </a:solidFill>
              </a:rPr>
              <a:t>→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26480" y="1005840"/>
            <a:ext cx="1325880" cy="1371600"/>
          </a:xfrm>
          <a:prstGeom prst="rect">
            <a:avLst/>
          </a:prstGeom>
          <a:solidFill>
            <a:srgbClr val="0E1E45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26480" y="105156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126480" y="146304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4D399"/>
                </a:solidFill>
              </a:rPr>
              <a:t>models/*.pkl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126480" y="1810512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92B4"/>
                </a:solidFill>
              </a:rPr>
              <a:t>rf + kmeans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A92B4"/>
                </a:solidFill>
              </a:rPr>
              <a:t>+ encoder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452360" y="1673352"/>
            <a:ext cx="137160" cy="36576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52360" y="1581912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F8EF7"/>
                </a:solidFill>
              </a:rPr>
              <a:t>→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589520" y="1005840"/>
            <a:ext cx="1325880" cy="1371600"/>
          </a:xfrm>
          <a:prstGeom prst="rect">
            <a:avLst/>
          </a:prstGeom>
          <a:solidFill>
            <a:srgbClr val="0E1E45"/>
          </a:solidFill>
          <a:ln w="12700">
            <a:solidFill>
              <a:srgbClr val="7EB3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0" y="105156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589520" y="146304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EB3FF"/>
                </a:solidFill>
              </a:rPr>
              <a:t>app/app.py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589520" y="1810512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92B4"/>
                </a:solidFill>
              </a:rPr>
              <a:t>Flask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A92B4"/>
                </a:solidFill>
              </a:rPr>
              <a:t>Interface web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65760" y="2743200"/>
            <a:ext cx="3931920" cy="2029968"/>
          </a:xfrm>
          <a:prstGeom prst="rect">
            <a:avLst/>
          </a:prstGeom>
          <a:solidFill>
            <a:srgbClr val="0E1E45"/>
          </a:solidFill>
          <a:ln w="12700">
            <a:solidFill>
              <a:srgbClr val="1E326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2834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EB3FF"/>
                </a:solidFill>
              </a:rPr>
              <a:t>Structure du Projet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02920" y="3154680"/>
            <a:ext cx="36576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6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projet_ml_retail/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8D6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data/raw/           retail.csv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8D6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data/train_test/    X_train, X_test, y_*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8D6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src/                preprocessing.py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8D6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                   train_model.py · predict.py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8D6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models/             *.pkl (rf, kmeans, encoder)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8D6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app/                app.py + templates/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8D6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 reports/            confusion_matrix.png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572000" y="2743200"/>
            <a:ext cx="4206240" cy="2029968"/>
          </a:xfrm>
          <a:prstGeom prst="rect">
            <a:avLst/>
          </a:prstGeom>
          <a:solidFill>
            <a:srgbClr val="0E1E45"/>
          </a:solidFill>
          <a:ln w="12700">
            <a:solidFill>
              <a:srgbClr val="1E326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09160" y="28346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EB3FF"/>
                </a:solidFill>
              </a:rPr>
              <a:t>Routes Flask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709160" y="3172968"/>
            <a:ext cx="1005840" cy="27432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09160" y="31729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60B18"/>
                </a:solidFill>
              </a:rPr>
              <a:t>/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806440" y="317296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6E8"/>
                </a:solidFill>
              </a:rPr>
              <a:t>Page d'accueil — présentation projet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709160" y="3575304"/>
            <a:ext cx="1005840" cy="274320"/>
          </a:xfrm>
          <a:prstGeom prst="rect">
            <a:avLst/>
          </a:prstGeom>
          <a:solidFill>
            <a:srgbClr val="22D3C8"/>
          </a:solidFill>
          <a:ln w="12700">
            <a:solidFill>
              <a:srgbClr val="22D3C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09160" y="357530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60B18"/>
                </a:solidFill>
              </a:rPr>
              <a:t>/predict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806440" y="3575304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6E8"/>
                </a:solidFill>
              </a:rPr>
              <a:t>Formulaire → prédiction 1 client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709160" y="3977640"/>
            <a:ext cx="1005840" cy="2743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09160" y="39776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60B18"/>
                </a:solidFill>
              </a:rPr>
              <a:t>/dashboard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806440" y="39776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6E8"/>
                </a:solidFill>
              </a:rPr>
              <a:t>Métriques modèle sur X_test.csv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709160" y="4379976"/>
            <a:ext cx="1005840" cy="2743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09160" y="437997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60B18"/>
                </a:solidFill>
              </a:rPr>
              <a:t>/api/predict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806440" y="4379976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6E8"/>
                </a:solidFill>
              </a:rPr>
              <a:t>API REST JSON (POST)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347472" cy="34747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256032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Déploiement — Interface Flask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2743200" cy="3977640"/>
          </a:xfrm>
          <a:prstGeom prst="rect">
            <a:avLst/>
          </a:prstGeom>
          <a:solidFill>
            <a:srgbClr val="0E1E45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04672"/>
            <a:ext cx="2743200" cy="41148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0467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Page Accueil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298448"/>
            <a:ext cx="2560320" cy="256032"/>
          </a:xfrm>
          <a:prstGeom prst="rect">
            <a:avLst/>
          </a:prstGeom>
          <a:solidFill>
            <a:srgbClr val="060B18"/>
          </a:solidFill>
          <a:ln w="12700">
            <a:solidFill>
              <a:srgbClr val="1E32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984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localhost:5000/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75488" y="1664208"/>
            <a:ext cx="25237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8D6E8"/>
                </a:solidFill>
              </a:rPr>
              <a:t>Présentation du projet, pipeline complet, boutons d'accès rapide aux fonctionnalités.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30352" y="2578608"/>
            <a:ext cx="128016" cy="128016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523744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6E8"/>
                </a:solidFill>
              </a:rPr>
              <a:t>Résumé du pipeline ML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30352" y="3035808"/>
            <a:ext cx="128016" cy="128016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980944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6E8"/>
                </a:solidFill>
              </a:rPr>
              <a:t>Liens vers Prédiction et Dashboard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30352" y="3493008"/>
            <a:ext cx="128016" cy="128016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438144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6E8"/>
                </a:solidFill>
              </a:rPr>
              <a:t>Technologies utilisées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46120" y="804672"/>
            <a:ext cx="2743200" cy="3977640"/>
          </a:xfrm>
          <a:prstGeom prst="rect">
            <a:avLst/>
          </a:prstGeom>
          <a:solidFill>
            <a:srgbClr val="0E1E45"/>
          </a:solidFill>
          <a:ln w="12700">
            <a:solidFill>
              <a:srgbClr val="22D3C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46120" y="804672"/>
            <a:ext cx="2743200" cy="411480"/>
          </a:xfrm>
          <a:prstGeom prst="rect">
            <a:avLst/>
          </a:prstGeom>
          <a:solidFill>
            <a:srgbClr val="22D3C8"/>
          </a:solidFill>
          <a:ln w="12700">
            <a:solidFill>
              <a:srgbClr val="22D3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46120" y="80467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Prédiction Client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37560" y="1298448"/>
            <a:ext cx="2560320" cy="256032"/>
          </a:xfrm>
          <a:prstGeom prst="rect">
            <a:avLst/>
          </a:prstGeom>
          <a:solidFill>
            <a:srgbClr val="060B18"/>
          </a:solidFill>
          <a:ln w="12700">
            <a:solidFill>
              <a:srgbClr val="1E32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12984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2D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localhost:5000/predict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355848" y="1664208"/>
            <a:ext cx="25237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8D6E8"/>
                </a:solidFill>
              </a:rPr>
              <a:t>Formulaire complet pour saisir les features d'un client et obtenir une prédiction instantanée.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410712" y="2578608"/>
            <a:ext cx="128016" cy="128016"/>
          </a:xfrm>
          <a:prstGeom prst="ellipse">
            <a:avLst/>
          </a:prstGeom>
          <a:solidFill>
            <a:srgbClr val="22D3C8"/>
          </a:solidFill>
          <a:ln w="12700">
            <a:solidFill>
              <a:srgbClr val="22D3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11880" y="2523744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6E8"/>
                </a:solidFill>
              </a:rPr>
              <a:t>22 features saisissables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410712" y="3035808"/>
            <a:ext cx="128016" cy="128016"/>
          </a:xfrm>
          <a:prstGeom prst="ellipse">
            <a:avLst/>
          </a:prstGeom>
          <a:solidFill>
            <a:srgbClr val="22D3C8"/>
          </a:solidFill>
          <a:ln w="12700">
            <a:solidFill>
              <a:srgbClr val="22D3C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11880" y="2980944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6E8"/>
                </a:solidFill>
              </a:rPr>
              <a:t>Proba de churn + niveau de risque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410712" y="3493008"/>
            <a:ext cx="128016" cy="128016"/>
          </a:xfrm>
          <a:prstGeom prst="ellipse">
            <a:avLst/>
          </a:prstGeom>
          <a:solidFill>
            <a:srgbClr val="22D3C8"/>
          </a:solidFill>
          <a:ln w="12700">
            <a:solidFill>
              <a:srgbClr val="22D3C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11880" y="3438144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6E8"/>
                </a:solidFill>
              </a:rPr>
              <a:t>Segment KMeans du client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410712" y="3950208"/>
            <a:ext cx="128016" cy="128016"/>
          </a:xfrm>
          <a:prstGeom prst="ellipse">
            <a:avLst/>
          </a:prstGeom>
          <a:solidFill>
            <a:srgbClr val="22D3C8"/>
          </a:solidFill>
          <a:ln w="12700">
            <a:solidFill>
              <a:srgbClr val="22D3C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11880" y="3895344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6E8"/>
                </a:solidFill>
              </a:rPr>
              <a:t>Recommandation d'action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126480" y="804672"/>
            <a:ext cx="2743200" cy="3977640"/>
          </a:xfrm>
          <a:prstGeom prst="rect">
            <a:avLst/>
          </a:prstGeom>
          <a:solidFill>
            <a:srgbClr val="0E1E45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26480" y="804672"/>
            <a:ext cx="2743200" cy="4114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0" y="80467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0B18"/>
                </a:solidFill>
              </a:rPr>
              <a:t>Dashboard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17920" y="1298448"/>
            <a:ext cx="2560320" cy="256032"/>
          </a:xfrm>
          <a:prstGeom prst="rect">
            <a:avLst/>
          </a:prstGeom>
          <a:solidFill>
            <a:srgbClr val="060B18"/>
          </a:solidFill>
          <a:ln w="12700">
            <a:solidFill>
              <a:srgbClr val="1E32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0" y="12984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localhost:5000/dashboard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236208" y="1664208"/>
            <a:ext cx="25237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8D6E8"/>
                </a:solidFill>
              </a:rPr>
              <a:t>Tableau de bord avec les métriques du modèle calculées en temps réel sur X_test.csv.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291072" y="2578608"/>
            <a:ext cx="128016" cy="12801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92240" y="2523744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6E8"/>
                </a:solidFill>
              </a:rPr>
              <a:t>Accuracy, F1, Precision, Recall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291072" y="3035808"/>
            <a:ext cx="128016" cy="12801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92240" y="2980944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6E8"/>
                </a:solidFill>
              </a:rPr>
              <a:t>Distribution churn (donut)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291072" y="3493008"/>
            <a:ext cx="128016" cy="12801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92240" y="3438144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6E8"/>
                </a:solidFill>
              </a:rPr>
              <a:t>875 clients évalués en batch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91072" y="3950208"/>
            <a:ext cx="128016" cy="12801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92240" y="3895344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6E8"/>
                </a:solidFill>
              </a:rPr>
              <a:t>Infos modèle &amp; hyperparams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65760" y="4663440"/>
            <a:ext cx="8412480" cy="256032"/>
          </a:xfrm>
          <a:prstGeom prst="rect">
            <a:avLst/>
          </a:prstGeom>
          <a:solidFill>
            <a:srgbClr val="060B18"/>
          </a:solidFill>
          <a:ln w="12700">
            <a:solidFill>
              <a:srgbClr val="1E326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66344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D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app/app.py  →  http://127.0.0.1:5000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347472" cy="34747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256032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Résultats &amp; Évaluation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1920240" cy="1005840"/>
          </a:xfrm>
          <a:prstGeom prst="rect">
            <a:avLst/>
          </a:prstGeom>
          <a:solidFill>
            <a:srgbClr val="0E1E45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5039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4D399"/>
                </a:solidFill>
              </a:rPr>
              <a:t>96.1%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13716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2B4"/>
                </a:solidFill>
              </a:rPr>
              <a:t>Accuracy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804672"/>
            <a:ext cx="1920240" cy="1005840"/>
          </a:xfrm>
          <a:prstGeom prst="rect">
            <a:avLst/>
          </a:prstGeom>
          <a:solidFill>
            <a:srgbClr val="0E1E45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85039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F8EF7"/>
                </a:solidFill>
              </a:rPr>
              <a:t>94.1%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468880" y="13716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2B4"/>
                </a:solidFill>
              </a:rPr>
              <a:t>F1-Score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804672"/>
            <a:ext cx="1920240" cy="1005840"/>
          </a:xfrm>
          <a:prstGeom prst="rect">
            <a:avLst/>
          </a:prstGeom>
          <a:solidFill>
            <a:srgbClr val="0E1E45"/>
          </a:solidFill>
          <a:ln w="12700">
            <a:solidFill>
              <a:srgbClr val="22D3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85039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D3C8"/>
                </a:solidFill>
              </a:rPr>
              <a:t>95.7%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572000" y="13716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2B4"/>
                </a:solidFill>
              </a:rPr>
              <a:t>Precision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75120" y="804672"/>
            <a:ext cx="1920240" cy="1005840"/>
          </a:xfrm>
          <a:prstGeom prst="rect">
            <a:avLst/>
          </a:prstGeom>
          <a:solidFill>
            <a:srgbClr val="0E1E45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85039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BBF24"/>
                </a:solidFill>
              </a:rPr>
              <a:t>92.4%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675120" y="13716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2B4"/>
                </a:solidFill>
              </a:rPr>
              <a:t>Recall</a:t>
            </a:r>
            <a:endParaRPr lang="en-US" sz="10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365760" y="1938528"/>
          <a:ext cx="502920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Shape 15"/>
          <p:cNvSpPr/>
          <p:nvPr/>
        </p:nvSpPr>
        <p:spPr>
          <a:xfrm>
            <a:off x="5669280" y="1938528"/>
            <a:ext cx="3108960" cy="2834640"/>
          </a:xfrm>
          <a:prstGeom prst="rect">
            <a:avLst/>
          </a:prstGeom>
          <a:solidFill>
            <a:srgbClr val="0E1E45"/>
          </a:solidFill>
          <a:ln w="12700">
            <a:solidFill>
              <a:srgbClr val="1E326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806440" y="202996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EB3FF"/>
                </a:solidFill>
              </a:rPr>
              <a:t>Interprétation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806440" y="2377440"/>
            <a:ext cx="2834640" cy="475488"/>
          </a:xfrm>
          <a:prstGeom prst="rect">
            <a:avLst/>
          </a:prstGeom>
          <a:solidFill>
            <a:srgbClr val="060B18"/>
          </a:solidFill>
          <a:ln w="12700">
            <a:solidFill>
              <a:srgbClr val="1E326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897880" y="239572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Score élevé attendu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897880" y="259689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2B4"/>
                </a:solidFill>
              </a:rPr>
              <a:t>Dataset synthétique — patterns plus nets que données réelles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806440" y="2926080"/>
            <a:ext cx="2834640" cy="475488"/>
          </a:xfrm>
          <a:prstGeom prst="rect">
            <a:avLst/>
          </a:prstGeom>
          <a:solidFill>
            <a:srgbClr val="060B18"/>
          </a:solidFill>
          <a:ln w="12700">
            <a:solidFill>
              <a:srgbClr val="1E326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97880" y="294436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Pas de leakage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5897880" y="314553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2B4"/>
                </a:solidFill>
              </a:rPr>
              <a:t>Corr. max résiduelle = 0.30 (seuil 0.70)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5806440" y="3474720"/>
            <a:ext cx="2834640" cy="475488"/>
          </a:xfrm>
          <a:prstGeom prst="rect">
            <a:avLst/>
          </a:prstGeom>
          <a:solidFill>
            <a:srgbClr val="060B18"/>
          </a:solidFill>
          <a:ln w="12700">
            <a:solidFill>
              <a:srgbClr val="1E326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897880" y="349300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Classe équilibrée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5897880" y="36941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2B4"/>
                </a:solidFill>
              </a:rPr>
              <a:t>class_weight='balanced' compense le déséquilibre 66/33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5806440" y="4023360"/>
            <a:ext cx="2834640" cy="475488"/>
          </a:xfrm>
          <a:prstGeom prst="rect">
            <a:avLst/>
          </a:prstGeom>
          <a:solidFill>
            <a:srgbClr val="060B18"/>
          </a:solidFill>
          <a:ln w="12700">
            <a:solidFill>
              <a:srgbClr val="1E326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897880" y="404164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Recall 92.4%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5897880" y="424281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2B4"/>
                </a:solidFill>
              </a:rPr>
              <a:t>92% des churners réels sont détectés — objectif atteint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5943600" cy="594360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4114800" cy="4114800"/>
          </a:xfrm>
          <a:prstGeom prst="ellipse">
            <a:avLst/>
          </a:prstGeom>
          <a:solidFill>
            <a:srgbClr val="1E3260"/>
          </a:solidFill>
          <a:ln w="12700">
            <a:solidFill>
              <a:srgbClr val="1E32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502920"/>
            <a:ext cx="1463040" cy="29260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029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</a:rPr>
              <a:t>CONCLUSION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896112"/>
            <a:ext cx="6858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ML Complet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Déployé &amp; Fonctionnel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02920" y="2331720"/>
            <a:ext cx="7132320" cy="420624"/>
          </a:xfrm>
          <a:prstGeom prst="rect">
            <a:avLst/>
          </a:prstGeom>
          <a:solidFill>
            <a:srgbClr val="112247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331720"/>
            <a:ext cx="347472" cy="42062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331720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0B18"/>
                </a:solidFill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32688" y="2331720"/>
            <a:ext cx="6583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8"/>
                </a:solidFill>
              </a:rPr>
              <a:t>Exploration et nettoyage de 52 features avec gestion des outliers, NaN et formats incohérents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825496"/>
            <a:ext cx="7132320" cy="420624"/>
          </a:xfrm>
          <a:prstGeom prst="rect">
            <a:avLst/>
          </a:prstGeom>
          <a:solidFill>
            <a:srgbClr val="112247"/>
          </a:solidFill>
          <a:ln w="12700">
            <a:solidFill>
              <a:srgbClr val="22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825496"/>
            <a:ext cx="347472" cy="420624"/>
          </a:xfrm>
          <a:prstGeom prst="rect">
            <a:avLst/>
          </a:prstGeom>
          <a:solidFill>
            <a:srgbClr val="22D3C8"/>
          </a:solidFill>
          <a:ln w="12700">
            <a:solidFill>
              <a:srgbClr val="22D3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825496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0B18"/>
                </a:solidFill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32688" y="2825496"/>
            <a:ext cx="6583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8"/>
                </a:solidFill>
              </a:rPr>
              <a:t>Détection et élimination du data leakage — Accuracy passée de 1.000 à 0.961 (réaliste)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3319272"/>
            <a:ext cx="7132320" cy="420624"/>
          </a:xfrm>
          <a:prstGeom prst="rect">
            <a:avLst/>
          </a:prstGeom>
          <a:solidFill>
            <a:srgbClr val="11224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3319272"/>
            <a:ext cx="347472" cy="420624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319272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0B18"/>
                </a:solidFill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32688" y="3319272"/>
            <a:ext cx="6583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8"/>
                </a:solidFill>
              </a:rPr>
              <a:t>Clustering KMeans (Silhouette 0.953) — 4 segments actionnables pour le marketing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3813048"/>
            <a:ext cx="7132320" cy="420624"/>
          </a:xfrm>
          <a:prstGeom prst="rect">
            <a:avLst/>
          </a:prstGeom>
          <a:solidFill>
            <a:srgbClr val="112247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813048"/>
            <a:ext cx="347472" cy="42062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813048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0B18"/>
                </a:solidFill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32688" y="3813048"/>
            <a:ext cx="6583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8"/>
                </a:solidFill>
              </a:rPr>
              <a:t>RandomForest optimisé par GridSearchCV — F1=94.1%, Recall=92.4% sur churners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4306824"/>
            <a:ext cx="7132320" cy="420624"/>
          </a:xfrm>
          <a:prstGeom prst="rect">
            <a:avLst/>
          </a:prstGeom>
          <a:solidFill>
            <a:srgbClr val="112247"/>
          </a:solidFill>
          <a:ln w="12700">
            <a:solidFill>
              <a:srgbClr val="7EB3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4306824"/>
            <a:ext cx="347472" cy="420624"/>
          </a:xfrm>
          <a:prstGeom prst="rect">
            <a:avLst/>
          </a:prstGeom>
          <a:solidFill>
            <a:srgbClr val="7EB3FF"/>
          </a:solidFill>
          <a:ln w="12700">
            <a:solidFill>
              <a:srgbClr val="7EB3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306824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0B18"/>
                </a:solidFill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32688" y="4306824"/>
            <a:ext cx="6583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8"/>
                </a:solidFill>
              </a:rPr>
              <a:t>Déploiement Flask complet : prédiction individuelle, dashboard, API REST JSON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60B18"/>
                </a:solidFill>
              </a:rPr>
              <a:t>GI2 — Atelier Machine Learning · 2025-2026 · Encadrant : Fadoua Drira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1295</Words>
  <Application>Microsoft Office PowerPoint</Application>
  <PresentationFormat>On-screen Show (16:9)</PresentationFormat>
  <Paragraphs>310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Analyse Comportementale Clientèle Retail</dc:title>
  <dc:subject>PptxGenJS Presentation</dc:subject>
  <dc:creator>GI2 — Atelier Machine Learning</dc:creator>
  <cp:lastModifiedBy>moujtaba ghrissi</cp:lastModifiedBy>
  <cp:revision>2</cp:revision>
  <dcterms:created xsi:type="dcterms:W3CDTF">2026-04-22T11:24:54Z</dcterms:created>
  <dcterms:modified xsi:type="dcterms:W3CDTF">2026-04-23T08:04:42Z</dcterms:modified>
</cp:coreProperties>
</file>